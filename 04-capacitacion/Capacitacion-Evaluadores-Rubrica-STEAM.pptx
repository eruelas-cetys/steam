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Bienvenida, 2 minutos. Aclare el propósito de la sesión: no es aprender a llenar un formulario, es entender qué mide el instrumento para poder aplicarlo con criterio uniforme. Si dos evaluadores califican distinto el mismo proyecto, el dato no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Dedique tiempo a la columna derecha. El riesgo mayor de esta rúbrica es que se lea como evaluación del desempeño docente; si eso pasa, los maestros documentarán para quedar bien en lugar de documentar lo que hicieron, y el instrumento pierde todo valor diagnóstico.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Insista en la palabra transferencia. No medimos si el docente es bueno; medimos si lo que le enseñamos aparece en su trabajo. Si un criterio sale bajo en todo el grupo, el problema es del taller, no de los maestros.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Justifique por qué empezamos por aquí: un evaluador que no sabe de dónde salió un criterio lo interpreta a su manera, y ahí es donde se pierde el acuerdo entre evaluadores.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Si alguien pregunta por qué se quitaron reactivos, la respuesta es de medición: reactivos que correlacionan casi perfectamente aportan la misma información una y otra vez. Reducir mejoró la precisión, no la sacrificó.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Ésta es la diapositiva que responde la objeción más común del docente evaluado: «me están pidiendo algo que nunca me enseñaron». Cada renglón demuestra lo contrario. Conviene que los evaluadores la tengan a la mano en la conversación de devolución.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Señale el bloque B en negro: cinco de doce criterios corresponden a las fases que los docentes vivieron en carne propia durante el taller. Si eso no se transfirió, no se transfirió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minutos. Son las cinco preguntas que le van a hacer. La segunda y la tercera son las que más generan discusión: deje claro que ambas protegen la validez del instrumento, no son concesiones.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A partir de aquí es procedimiento. Anuncie que al final harán un ejercicio con un caso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Enfatice el aviso: hay diferencia entre un proyecto que se hizo mal y uno que no se documentó. El segundo se devuelve, no se reprueba. Si empezamos a calificar paquetes incompletos, los puntajes dejan de ser comparables.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La duda frecuente es cómo decidir entre 3 y 4. La respuesta está en el descriptor: el 4 exige el rasgo completo, sin faltantes. Si usted duda entre 3 y 4, es 3. Duda equivale a limitación menor, que es la definición de competente.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El efecto halo es el más difícil de evitar porque no se siente como sesgo. Recomiende una práctica concreta: cubrir las respuestas anteriores mientras se valora cada criterio. Anuncie que la sesión de calibración servirá justamente para medir 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Repase solo la fila B5: en ABJ el ajuste significa modificar el juego después de jugarlo. Es el mismo principio que en Design Thinking, con otro vocabulario.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Anuncie que esta parte es corta y operativa; lo importante ya se dijo.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Ábralo en vivo y recorra las seis páginas. Muestre dónde está la opción N/A de D1 y por qué el campo narrativo es obligatorio. Aclare que se puede editar la respuesta después de enviarla.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Advierta contra el uso administrativo del corte. Nadie reprueba. El corte sirve para decidir a qué docentes ofrecer acompañamiento y qué proyectos documentar como referentes.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minutos. Pida a dos evaluadores que lean en voz alta una devolución que hayan escrito antes, si los hay. La regla del único aspecto de mejora es deliberada: una lista larga se ignora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Ésta es la idea que distingue esta evaluación de una supervisión. Pida a los evaluadores que traigan sus observaciones agregadas a la reunión de cierre del ciclo.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minutos. Cierre con la frase de la caja amarilla y anuncie la sesión de calibración, donde valorarán casos reales por separado y compararán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cierre administrativo. No requiere lectura en voz alta; basta señalar que el material es abierto y puede compartirse y adaptarse dando crédito.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4754880" cy="4754880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CAPACITACIÓN DE EVALUADORES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Rúbrica de Valoración</a:t>
            </a:r>
            <a:endParaRPr lang="en-US" sz="38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Transferencia STEAM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construyó el instrumento y cómo se aplica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85216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Observador externo  ·  Mentor pedagógico  ·  Moderador del colectivo escolar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papel como evaluador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rúbrica no califica al docente. Verifica si el taller se tradujo en práctica.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57984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sí hace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15184"/>
            <a:ext cx="483717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Verificar qué del taller aparece en el proyecto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Revisar evidencias: planeación, productos, registros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Documentar hechos observables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Devolver información útil al docente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Detectar qué contenidos del taller no se apropiaron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920240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11112" y="2157984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hace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11112" y="2615184"/>
            <a:ext cx="483717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Juzgar la calidad general del docente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Valorar intenciones o esfuerzo no documentado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Requerir presencia en el aula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Producir una calificación con consecuencias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Comparar docentes entre sí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puntaje orienta la conversación formativa y la mejora del propio taller.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mide el instrumento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Transferencia: si lo impartido en el taller llegó a un proyecto real de aula.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965960"/>
            <a:ext cx="1920240" cy="713232"/>
          </a:xfrm>
          <a:prstGeom prst="roundRect">
            <a:avLst>
              <a:gd name="adj" fmla="val 7692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03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2185416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implementado y sus evidencias. No la clase en vivo.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807208"/>
            <a:ext cx="1920240" cy="713232"/>
          </a:xfrm>
          <a:prstGeom prst="roundRect">
            <a:avLst>
              <a:gd name="adj" fmla="val 7692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30449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0266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de que el docente implementó el proyecto con sus alumnos.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648456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648456"/>
            <a:ext cx="1920240" cy="713232"/>
          </a:xfrm>
          <a:prstGeom prst="roundRect">
            <a:avLst>
              <a:gd name="adj" fmla="val 7692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3886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38679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Planeación, productos de los alumnos, registro fotográfico o audiovisual, reflexión docente.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489704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489704"/>
            <a:ext cx="1920240" cy="713232"/>
          </a:xfrm>
          <a:prstGeom prst="roundRect">
            <a:avLst>
              <a:gd name="adj" fmla="val 7692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" y="47274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Extensión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47091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criterios en 4 bloques · escala de 4 niveles · puntaje máximo 48.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4406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8DC"/>
          </a:solidFill>
          <a:ln w="25400">
            <a:solidFill>
              <a:srgbClr val="FFCD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64184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clave: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5577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instrumento anterior valoraba conductas docentes durante una clase. Este valora rastros del proceso de diseño en un proyecto terminado. Por eso cada criterio nombra la evidencia que lo sustenta: el evaluador no interpreta, verifica.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005840" cy="100584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7190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4813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PRIMERA PARTE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82880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construyó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instrumento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329184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20 reactivos a 12 criterios, y por qué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criterio es trazable a un contenido del taller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decisiones de diseño que conviene conocer antes de aplicarlo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20 reactivos a 12 criterios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instrumento anterior no medía 20 constructos distintos.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9584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203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Redundancia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60904"/>
            <a:ext cx="30175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Varios reactivos se puntuaban de forma casi idéntica. Más extensión no daba más precisión: daba más fatiga y más ruido.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9704" y="1965960"/>
            <a:ext cx="3529584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45736" y="2203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no observable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745736" y="2660904"/>
            <a:ext cx="30175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reactivo sobre socialización en Classroom no podía verificarse durante una observación. Salió del instrumento.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339328" y="1965960"/>
            <a:ext cx="3529584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2203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de objeto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660904"/>
            <a:ext cx="30175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nuevo instrumento mide transferencia sobre evidencias, no conductas en tiempo real. Eso reorganizó todos los criterios.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261518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718304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846320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reactivos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instrumento previo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57016" y="4572000"/>
            <a:ext cx="2615184" cy="128016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85616" y="4718304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4791456" y="4846320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instrumento actual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73952" y="4572000"/>
            <a:ext cx="261518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02552" y="4718304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7708392" y="4846320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bloques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lógica propia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390888" y="4572000"/>
            <a:ext cx="261518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19488" y="4718304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10625328" y="4846320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máximo posible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criterio viene del taller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criterio evalúa algo que no se haya impartido. Ésta es la trazabilidad completa.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16276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6276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VALORA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627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PROVIENE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1088136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157984"/>
            <a:ext cx="1097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157984"/>
            <a:ext cx="3931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 de las cinco áreas STEAM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15798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 de STEAM (Yakman) y «El Arte como motor de cambio»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560320"/>
            <a:ext cx="1088136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2706624"/>
            <a:ext cx="1097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2706624"/>
            <a:ext cx="3931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Anclaje curricular en la NEM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70662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del plan de referencia: ejes, campos formativos y PDA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108960"/>
            <a:ext cx="1088136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255264"/>
            <a:ext cx="1097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– B5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194560" y="3255264"/>
            <a:ext cx="3931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cinco fases del proceso de diseño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325526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«Misión Rescate del Huerto» y etapas de Design Thinking (Brown, 2009)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088136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3803904"/>
            <a:ext cx="1097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803904"/>
            <a:ext cx="3931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Pertinencia del producto al nivel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80390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del taller y tabla de concreción por nivel educativo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206240"/>
            <a:ext cx="1088136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6112" y="4352544"/>
            <a:ext cx="1097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352544"/>
            <a:ext cx="3931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Socialización de la solución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43525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tipo pitch: «Nuestra solución es…»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4754880"/>
            <a:ext cx="1088136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" y="4901184"/>
            <a:ext cx="1097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194560" y="4901184"/>
            <a:ext cx="3931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Vínculo comunitario y Agenda 2030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490118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Proyectos comunitarios en el marco de la Agenda 2030 de la ONU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5303520"/>
            <a:ext cx="1088136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6112" y="5449824"/>
            <a:ext cx="1097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5449824"/>
            <a:ext cx="3931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Planeación asistida con IA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0" y="544982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y estructura de prompt Rol + Contexto + Tarea + Formato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881360" cy="484632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6112" y="5998464"/>
            <a:ext cx="1097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2194560" y="5998464"/>
            <a:ext cx="3931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Reflexión docente y mejora continua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599846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de cierre del taller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cuatro bloques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criterios. El bloque B concentra cinco: es el núcleo del instrumento.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148840"/>
            <a:ext cx="502920" cy="502920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19913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788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Fundamentación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42900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 Integración STEAM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 Anclaje curricular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57016" y="192024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2148840"/>
            <a:ext cx="502920" cy="50292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13048" y="219913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813048" y="2788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de diseño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342900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 Empatizar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 Definir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  Idear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B4  Prototipar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B5  Evaluar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73952" y="192024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9984" y="2148840"/>
            <a:ext cx="502920" cy="502920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9984" y="219913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729984" y="2788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y comunidad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29984" y="342900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  Producto por nivel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 Socialización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  Comunidad y ODS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90888" y="192024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46920" y="2148840"/>
            <a:ext cx="502920" cy="502920"/>
          </a:xfrm>
          <a:prstGeom prst="ellipse">
            <a:avLst/>
          </a:prstGeom>
          <a:solidFill>
            <a:srgbClr val="75787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46920" y="219913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646920" y="2788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y mejora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46920" y="342900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 Apoyo con IA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  Reflexión docente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4406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8DC"/>
          </a:solidFill>
          <a:ln w="25400">
            <a:solidFill>
              <a:srgbClr val="FFCD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564184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falla: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743200" y="557784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transferencia se rompe casi siempre en B5, Evaluar. Es la fase que exige volver sobre lo ya hecho, y la que más se omite. Espere puntajes bajos ahí.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Decisiones de diseño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elecciones deliberadas que conviene que conozca antes de aplicar el instrumento.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075688"/>
            <a:ext cx="384048" cy="3840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665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20482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mide evidencia, no intención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039112"/>
            <a:ext cx="6446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criterio nombra el documento que lo sustenta. Si no hay evidencia, corresponde nivel 1: no es un castigo, es la ausencia de dato.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862072"/>
            <a:ext cx="384048" cy="3840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85292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89888" y="2834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rutas metodológicas válidas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825496"/>
            <a:ext cx="6446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taller enseñó Design Thinking y Aprendizaje Basado en Juego. Penalizar a quien eligió ABJ mediría obediencia, no aprendizaje. Existe una tabla de equivalencias.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493008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648456"/>
            <a:ext cx="384048" cy="3840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3639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89888" y="362102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uso de IA admite «No aplica»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3611880"/>
            <a:ext cx="6446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una herramienta ofrecida, no un requisito pedagógico. Marcarlo obligatorio distorsionaría el puntaje de implementaciones sólidas sin IA.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279392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4434840"/>
            <a:ext cx="384048" cy="3840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1248" y="442569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89888" y="44074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conservaron cuatro niveles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800600" y="4398264"/>
            <a:ext cx="6446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doce criterios no hay fatiga del evaluador. Cuatro niveles discriminan mejor en el extremo alto que tres.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65776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5221224"/>
            <a:ext cx="384048" cy="3840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1248" y="521208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89888" y="519379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inclusión no es criterio propio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800600" y="5184648"/>
            <a:ext cx="6446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un rasgo específico del taller STEAM. Sigue apareciendo al valorar A2, porque es uno de los siete ejes articuladores de la NEM.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005840" cy="100584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7190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4813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PARTE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82880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aplica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329184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evidencias pedir antes de empezar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de decisión y la escala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errores que rompen el acuerdo entre evaluadores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debe tener a la vista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Solicite el paquete completo antes de abrir el formulario. Sin evidencias no hay valoración.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9584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671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Planeación escrita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5328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Sustenta A1, A2 y el diseño de las cinco fases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89704" y="1965960"/>
            <a:ext cx="3529584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45736" y="21671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Fotografías del proceso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45736" y="25328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Sustentan B1, B3 y B4: lo que hicieron los alumnos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339328" y="1965960"/>
            <a:ext cx="3529584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21671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Prototipos o productos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5328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Sustentan B4 y C1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273552"/>
            <a:ext cx="3529584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del pitch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840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Sustenta C2: quién habló y ante quién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9704" y="3273552"/>
            <a:ext cx="3529584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45736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los alumnos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745736" y="3840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Sustenta B1, B2 y el registro del proceso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339328" y="3273552"/>
            <a:ext cx="3529584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Reflexión docente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3840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Sustenta D2 y, si aplica, D1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8DC"/>
          </a:solidFill>
          <a:ln w="25400">
            <a:solidFill>
              <a:srgbClr val="FFCD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523036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falta evidencia: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200400" y="5166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regístrelo en la primera página del formulario, en «evidencias entregadas». Un proyecto sin evidencias no se valora bajo: se devuelve al docente para que las integre.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escala y la regla de decisión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5819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581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DENOMINACIÓN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5819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ASIGNACIÓN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1122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11226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Consolidado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11226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sólida y consistente; el rasgo aparece completo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660904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280720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8072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adecuada y funcional; el rasgo aparece con limitaciones menores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355848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50215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desarrollo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50215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parcial, superficial o inconsistente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050792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1970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41970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Inicial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419709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mínima o ausente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510235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de decisión.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108960" y="504748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Asigne el nivel solo con evidencia documental a la vista. Si un criterio no puede sustentarse en un producto o registro, corresponde nivel 1, no un juicio de intención.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que rompen el acuerdo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cuatro sesgos más frecuentes al aplicar una rúbrica de este tipo.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212848"/>
            <a:ext cx="457200" cy="45720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240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8163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Efecto halo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31012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proyecto vistoso arrastra hacia arriba todos los criterios. Valore cada uno por separado, con su evidencia enfrente.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57016" y="196596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2212848"/>
            <a:ext cx="457200" cy="45720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13048" y="2240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813048" y="28163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Indulgencia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331012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4 «para no desanimar». Convierte el instrumento en un trámite y borra el diagnóstico del taller.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73952" y="196596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9984" y="2212848"/>
            <a:ext cx="457200" cy="45720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9984" y="2240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729984" y="28163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intenciones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29984" y="331012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docente explica lo que quiso hacer. No cuenta: cuenta lo que quedó documentado.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90888" y="196596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46920" y="2212848"/>
            <a:ext cx="457200" cy="45720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46920" y="2240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646920" y="28163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Castigar la ruta ABJ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46920" y="331012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eligió Aprendizaje Basado en Juego, valore el bloque B con la tabla de equivalencias, no con los descriptores de Design Thinking.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de consistencia: si dos evaluadores valoran el mismo proyecto y difieren en más de un nivel en algún criterio, revisen juntos la evidencia antes de registrar.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docente empleó Aprendizaje Basado en Juego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 los mismos cinco criterios del bloque B con esta correspondencia.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764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834640" y="1764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ABJ EQUIVALENTE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764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BUSCAR EN LA EVIDENCIA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29514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 Empatizar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2951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 de objetivos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22951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objetivo parte de una necesidad real de los alumnos, no solo del contenido programático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898648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0449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 Definir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0449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del juego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04495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reto o meta del juego está formulado con claridad y es comprensible para los alumnos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648456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  Idear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Normas y reglas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3794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reglas se construyeron o negociaron con el grupo; hay variantes consideradas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398264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5445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B4  Prototipar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45445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del juego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45445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juego se materializó con materiales concretos y los alumnos participaron en construirlo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148072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294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B5  Evaluar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834640" y="529437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Evaluación, ajustes y mejoras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529437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jugó, se recogió retroalimentación y se modificó el juego en consecuencia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metodología empleada se registra en la primera página del formulario. Verifíquela antes de valorar el bloque 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005840" cy="1005840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7190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4813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TERCERA PARTE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82880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formulario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los resultados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329184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llena el registro en Google Forms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calcula e interpreta el puntaje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devolver al docente y qué reportar a la coordinación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formulario de registro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páginas. Se llena con las evidencias enfrente, no de memoria.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566928"/>
          </a:xfrm>
          <a:prstGeom prst="roundRect">
            <a:avLst>
              <a:gd name="adj" fmla="val 8065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075688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48256"/>
            <a:ext cx="347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21305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886200" y="2130552"/>
            <a:ext cx="7360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Nivel, docente, escuela, proyecto, metodología empleada y evidencias entregadas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24328"/>
            <a:ext cx="10881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734056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706624"/>
            <a:ext cx="347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27889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886200" y="2788920"/>
            <a:ext cx="7360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criterios de fundamentación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282696"/>
            <a:ext cx="10881360" cy="566928"/>
          </a:xfrm>
          <a:prstGeom prst="roundRect">
            <a:avLst>
              <a:gd name="adj" fmla="val 8065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392424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3364992"/>
            <a:ext cx="347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34472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B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886200" y="3447288"/>
            <a:ext cx="7360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cinco fases del proceso de diseño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41064"/>
            <a:ext cx="10881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4050792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1248" y="4023360"/>
            <a:ext cx="347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41056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C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4105656"/>
            <a:ext cx="7360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Producto, socialización y comunidad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599432"/>
            <a:ext cx="10881360" cy="566928"/>
          </a:xfrm>
          <a:prstGeom prst="roundRect">
            <a:avLst>
              <a:gd name="adj" fmla="val 8065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4709160"/>
            <a:ext cx="347472" cy="347472"/>
          </a:xfrm>
          <a:prstGeom prst="ellipse">
            <a:avLst/>
          </a:prstGeom>
          <a:solidFill>
            <a:srgbClr val="FFCD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1248" y="4681728"/>
            <a:ext cx="347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476402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D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3886200" y="4764024"/>
            <a:ext cx="7360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y reflexión docente. D1 admite «N/A»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257800"/>
            <a:ext cx="10881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248" y="5367528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41248" y="5340096"/>
            <a:ext cx="347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353312" y="54223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3886200" y="5422392"/>
            <a:ext cx="7360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narrativa obligatoria y fortaleza más notable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594360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8DC"/>
          </a:solidFill>
          <a:ln w="25400">
            <a:solidFill>
              <a:srgbClr val="FFCD0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4400" y="614476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Recuerde: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514600" y="6080760"/>
            <a:ext cx="8732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opción del formulario empieza con su número, de modo que el puntaje se calcula solo en la hoja de respuestas. No sume a mano.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interpreta el puntaje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corte no clasifica al docente: indica qué tan completa fue la transferencia.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627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PUNTAJE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6276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6276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IMPLICA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1088136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1579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– 48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215798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Transferencia consolidada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15798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taller se tradujo íntegramente en práctica. El proyecto puede documentarse como referente para el colectivo.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088136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97180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– 42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97180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Transferencia competente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297180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componentes centrales están presentes. Conviene profundizar en las fases débiles.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639312"/>
            <a:ext cx="1088136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785616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– 32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378561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Transferencia en desarrollo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78561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adopta el lenguaje STEAM pero no todo el proceso. Requiere acompañamiento focalizado.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453128"/>
            <a:ext cx="1088136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59943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21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468880" y="459943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8A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Transferencia inicial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4599432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práctica no cambió sustantivamente. Conviene revisar qué del taller no resultó apropiable.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53212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8DC"/>
          </a:solidFill>
          <a:ln w="25400">
            <a:solidFill>
              <a:srgbClr val="FFCD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73328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D1 es N/A: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56692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máximo baja a 44 y los cortes se recalculan proporcionalmente: 90 %, 68 % y 45 %.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devolución al docente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campo narrativo es lo único que el docente va a leer con atención.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3017520"/>
          </a:xfrm>
          <a:prstGeom prst="roundRect">
            <a:avLst>
              <a:gd name="adj" fmla="val 2424"/>
            </a:avLst>
          </a:prstGeom>
          <a:solidFill>
            <a:srgbClr val="F4F4F4"/>
          </a:solidFill>
          <a:ln w="12700">
            <a:solidFill>
              <a:srgbClr val="E3E4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57984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Escriba así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15184"/>
            <a:ext cx="483717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 la bitácora aparece la tabla de conteo de los días de riego, con dos semanas registradas, y en la fotografía se ve el semáforo reubicado en la puerta.»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Hechos verificables. El docente puede reconocerlos.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1920240"/>
            <a:ext cx="5349240" cy="3017520"/>
          </a:xfrm>
          <a:prstGeom prst="roundRect">
            <a:avLst>
              <a:gd name="adj" fmla="val 2424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11112" y="2157984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escriba así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11112" y="2615184"/>
            <a:ext cx="483717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«Se nota que la maestra le echó ganas pero le faltó estructura en la parte de evaluación.»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Juicio sin evidencia. No se puede discutir ni corregir.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siempre señalando un solo aspecto con potencial de mejora para la siguiente implementación. Uno, no cinco.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AGREGADA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instrumento también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evalúa al taller.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5468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criterio en el que la mayoría de los docentes obtenga 1 o 2 señala una falla de la capacitación, no del grupo. Revise los resultados por criterio antes que por docente.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137160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2B2D2E"/>
          </a:solidFill>
          <a:ln w="12700">
            <a:solidFill>
              <a:srgbClr val="2B2D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0934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reportar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394192" y="2066544"/>
            <a:ext cx="28712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 coordinación, además de los puntajes: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Criterios con más valoraciones bajas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Contenidos del taller que no se apropiaron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Proyectos que pueden servir de referente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Dudas recurrentes de los docentes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0749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B5 sale bajo en todo el grupo, el problema no son los maestros: es que el taller no logró volver imprescindible la fase de evaluación.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4A4C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84048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RESUMEN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1572768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· Criterio</a:t>
            </a:r>
            <a:endParaRPr lang="en-US" sz="34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Consistencia · Devolución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4290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 solo lo documentado, con el descriptor a la vista, del mismo modo que su colega, y devuelva algo que el docente pueda usar.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40480" y="4617720"/>
            <a:ext cx="7680960" cy="960120"/>
          </a:xfrm>
          <a:prstGeom prst="roundRect">
            <a:avLst>
              <a:gd name="adj" fmla="val 7619"/>
            </a:avLst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069080" y="4828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calificamos docentes. Medimos transferencia.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 Y CRÉDITOS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STEAM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Versión 1.0 · Septiembre de 2026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1752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y desarrollo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Emmanuelle Ruelas Gómez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pedagógico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Emmanuelle Ruelas Gómez, Ing. Daniel Millan Coronado,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Mtra. Emarinia Angulo Camacho, Mtra. Miriam Melero Hernández,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Dra. Silvia Lizeth Becerra Rojas, M en C. Maritza Patricia López Solorio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y validación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Juan Terrazas Gaynor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eventos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Ing. Daniel Millan Coronado, Dra. Verónica Rojas Mendizábal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743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31089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Commons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Atribución-CompartirIgual 4.0 Internacional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 BY-SA 4.0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41148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compartirse y adaptarse, incluso con fines comerciales, siempre que se dé crédito, se indique si hubo cambios y las obras derivadas se distribuyan bajo esta misma licencia.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5120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creativecommons.org/licenses/by-sa/4.0/deed.es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5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material cita, sin reproducir, las Directrices DUA 3.0 (CAST, 2024) y la Guía de Consulta del DSM-5. Los derechos de esas obras corresponden a sus titulares.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Capacitación de evaluadores · Rúbrica de Transferencia STEAM</dc:title>
  <dc:subject>PptxGenJS Presentation</dc:subject>
  <dc:creator>Coordinación STEAM</dc:creator>
  <cp:lastModifiedBy>Coordinación STEAM</cp:lastModifiedBy>
  <cp:revision>1</cp:revision>
  <dcterms:created xsi:type="dcterms:W3CDTF">2026-09-24T22:59:22Z</dcterms:created>
  <dcterms:modified xsi:type="dcterms:W3CDTF">2026-09-24T22:59:22Z</dcterms:modified>
</cp:coreProperties>
</file>