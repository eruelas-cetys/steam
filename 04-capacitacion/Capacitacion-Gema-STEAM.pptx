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Bienvenida, 2 minutos. Aclare desde el inicio: la Gema NO planea por usted, le hace preguntas. El proyecto sigue siendo suyo. Hoy vamos a recorrer cuatro bloques: conocer el formato, conversar con la Gema, validar lo que entrega, y pasarlo al formato oficial.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Lea los cuatro puntos y detenga la atención en el tercero: validar. Es el que la gente se salta y el que decide la calidad de la planeación. Deje claro que al final de la sesión cada quien saldrá con su proyecto diseñado.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minutos. Ésta es la diapositiva ancla: si alguien se pierde después, regrese aquí. Señale el bloque 3 en ámbar: está en otro color a propósito. Frase para decir en voz alta: la Gema redacta, usted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Insista: quien no conoce el formato no puede validar lo que la Gema le entregue. Por eso este bloque va primero, aunque den ganas de ir directo a la herramienta.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minutos. Reparta el formato impreso en este momento y recórralo con ellos. No lea las diez en voz alta: señale la 5 (donde está el trabajo real) y la 10 (que se llena después). Aclare que la sección 9, la de IA, es opcional.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minutos. Pregunte al grupo: ¿recuerdan la actividad del huerto? Éstas son las mismas cinco fases. Es exactamente lo que ustedes hicieron con los popotes y el material reciclado. Señale la quinta, en oscuro: la vemos aparte en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Ésta es la idea que más se olvida en la implementación. Pida un ejemplo al grupo: ¿cómo probarían ustedes un prototipo en su salón? Insista en que se decide al planear, no al final, porque al final ya no hay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Sirve para responder la pregunta que siempre sale: ¿y dónde queda la inclusión? La respuesta es que no va aparte, va en la estructura. Lea una sola fila en voz alta, la de Prototipar, y pase a la siguiente diapositiva, que es la aplicable. Si hay docentes de secundaria o preparatoria, lea el aviso amarillo: no es un requisito para ellos, pero tampoco les cuesta nada, porque ya está incorporado en el diseño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Ésta es la diapositiva que se llevan. Dé un ejemplo propio: el niño que no quiso escribir pero explicó perfecto actuando. Aclare que esto no sustituye los ajustes razonables de la sección 8 del formato, los complementa.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Advierta antes de entrar: no es un buscador ni un generador. Es una entrevista. Si contestan con monosílabos, la planeación saldrá vacía.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minutos. Hágalo en vivo proyectando la pantalla, paso por paso, y luego pida que lo repitan en su dispositivo. Verifique que todos llegaron a la pantalla de la Gema antes de avanzar. Éste es el punto donde se atoran los que no traen sesión iniciada.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Subraye la columna derecha. El error típico es tratar a la Gema como buscador: contestar rápido y aceptar todo. Recuerde que decir "no sé" es válido y hasta útil, porque entonces ella ofrece opciones concretas para elegir.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Lea los tres ejemplos de la columna derecha en voz alta; son los que se recuerdan. Si hay tiempo, pida a dos o tres docentes que digan en voz alta la situación real de su escuela y corríjala en grupo hasta que sea concreta.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Bájele el ritmo a la sesión en este punto. Dígalo con todas sus letras: lo que la Gema entrega es un borrador. Si lo copian tal cual, están entregando una planeación que no corresponde a su grupo, y eso se nota de inmediato.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minutos. Ésta es la diapositiva más importante de la sesión. Deténgase en la primera casilla, los PDA: es donde la Gema tiene un límite real y admitido. Sugiera que hagan la validación con el programa sintético abierto al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Diapositiva de fondo, no de procedimiento. Sirve para bajar la ansiedad de quien teme que la herramienta lo reemplace, y para justificar por qué la validación es obligatoria. Puede pedir ejemplos: ¿qué sabe usted de su grupo que ninguna herramienta podría adivinar?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Aclare que aquí ya no hay nada complicado: es copiar y pegar. El único cuidado es hacerlo por secciones y no de un solo jalón, para que no se descuadren las tablas.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minutos. Muéstrelo en vivo: copie una sección de ejemplo y péguela en el Word proyectado. Advierta el detalle de pegar sin formato si les descuadra las tablas: en Word, clic derecho, Pegar como texto sin formato. Recuerde que la sección 10 se deja vacía.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Preséntelos con humor, no como regaño. Puede preguntar: ¿cuál de los tres creen que van a cometer? Suele romper el hielo y funciona como compromiso.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minutos y arranca el trabajo práctico. Deje la diapositiva proyectada durante el ejercicio: los cuatro verbos funcionan como recordatorio. Circule por las mesas y atienda sobre todo a quienes estén aceptando todo sin leer.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cierre administrativo. No requiere lectura en voz alta; basta señalar que el material es abierto y puede compartirse y adaptarse dando crédito.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4A4C4D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023360"/>
            <a:ext cx="3108960" cy="310896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DOCENTE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Diseñe su proyecto STEAM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apoyo de la Gema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conversación al formato oficial, en cuatro bloques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52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 Rescate del Huerto  ·  Design Thinking  ·  Nueva Escuela Mexicana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terminar esta sesión usted podrá…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1109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81328" y="18562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Reconocer el formato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224028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Sabrá qué pide cada una de las diez secciones de la plantilla de planeación.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944368"/>
            <a:ext cx="566928" cy="5669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02666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9718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Conversar con la Gema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335584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Abrirá la herramienta y responderá sus preguntas para diseñar su proyecto.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059936"/>
            <a:ext cx="566928" cy="566928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14223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4087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el resultado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471416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Revisará lo que la Gema propuso y corregirá lo que no corresponde a su grupo.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5175504"/>
            <a:ext cx="566928" cy="566928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52578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2029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 su planeación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5586984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Pasará el texto al formato oficial, ya revisado y con su firma.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completo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bloques. Ninguno se puede saltar.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" y="1965960"/>
            <a:ext cx="2487168" cy="301752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88900" dist="12700" dir="5400000">
              <a:srgbClr val="B5B6B7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72184" y="2240280"/>
            <a:ext cx="603504" cy="60350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72184" y="2340864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035808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Conozca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formato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950208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le va a pedir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planeación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035808" y="31546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01568" y="1965960"/>
            <a:ext cx="2487168" cy="301752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88900" dist="12700" dir="5400000">
              <a:srgbClr val="B5B6B7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240280"/>
            <a:ext cx="603504" cy="603504"/>
          </a:xfrm>
          <a:prstGeom prst="ellipse">
            <a:avLst/>
          </a:prstGeom>
          <a:solidFill>
            <a:srgbClr val="4A4C4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3400" y="2340864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3035808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 Gema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3950208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Ella pregunta,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usted responde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07024" y="31546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72784" y="1965960"/>
            <a:ext cx="2487168" cy="301752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88900" dist="12700" dir="5400000">
              <a:srgbClr val="B5B6B7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14616" y="2240280"/>
            <a:ext cx="603504" cy="603504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14616" y="2340864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3035808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3950208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Revise, corrija,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31546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144000" y="1965960"/>
            <a:ext cx="2487168" cy="301752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88900" dist="12700" dir="5400000">
              <a:srgbClr val="B5B6B7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85832" y="2240280"/>
            <a:ext cx="603504" cy="603504"/>
          </a:xfrm>
          <a:prstGeom prst="ellipse">
            <a:avLst/>
          </a:prstGeom>
          <a:solidFill>
            <a:srgbClr val="75787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85832" y="2340864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3035808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Pase al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3950208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Copie, pegue,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349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bloque 3 es el que hace suya la planeación. Sin él, usted entrega el trabajo de una máquina.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1005840" cy="100584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7190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8288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Conozca el formato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abrir nada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32004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Diez secciones que se llenan una sola vez, al planear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fases que son el corazón del proyecto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regla que casi todos olvidan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diez secciones del formato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llenan al planear. La número 10 se llena después de implementar.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786384"/>
          </a:xfrm>
          <a:prstGeom prst="roundRect">
            <a:avLst>
              <a:gd name="adj" fmla="val 6977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56816"/>
            <a:ext cx="438912" cy="43891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75104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9019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2037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Escuela, grupo, fechas, sesiones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57800" cy="786384"/>
          </a:xfrm>
          <a:prstGeom prst="roundRect">
            <a:avLst>
              <a:gd name="adj" fmla="val 6977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956816"/>
            <a:ext cx="438912" cy="43891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1975104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19019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Anclaje curricular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068312" y="22037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Ejes articuladores, campos, PDA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715768"/>
            <a:ext cx="5257800" cy="786384"/>
          </a:xfrm>
          <a:prstGeom prst="roundRect">
            <a:avLst>
              <a:gd name="adj" fmla="val 6977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2889504"/>
            <a:ext cx="438912" cy="43891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90779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28346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 STEAM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31363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hacen los alumnos en cada una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2715768"/>
            <a:ext cx="5257800" cy="786384"/>
          </a:xfrm>
          <a:prstGeom prst="roundRect">
            <a:avLst>
              <a:gd name="adj" fmla="val 6977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2889504"/>
            <a:ext cx="438912" cy="43891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290779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28346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y comunidad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068312" y="31363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real, ODS, acción fuera del aula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648456"/>
            <a:ext cx="5257800" cy="786384"/>
          </a:xfrm>
          <a:prstGeom prst="roundRect">
            <a:avLst>
              <a:gd name="adj" fmla="val 6977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3822192"/>
            <a:ext cx="438912" cy="43891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" y="384048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37673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cinco fases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353312" y="4069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ruta completa del proyecto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3648456"/>
            <a:ext cx="5257800" cy="786384"/>
          </a:xfrm>
          <a:prstGeom prst="roundRect">
            <a:avLst>
              <a:gd name="adj" fmla="val 6977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9672" y="3822192"/>
            <a:ext cx="438912" cy="43891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19672" y="384048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68312" y="37673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y socialización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068312" y="4069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producen y ante quién lo presentan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581144"/>
            <a:ext cx="5257800" cy="786384"/>
          </a:xfrm>
          <a:prstGeom prst="roundRect">
            <a:avLst>
              <a:gd name="adj" fmla="val 6977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" y="4754880"/>
            <a:ext cx="438912" cy="43891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" y="477316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353312" y="47000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353312" y="50017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 a guardar del proceso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355080" y="4581144"/>
            <a:ext cx="5257800" cy="786384"/>
          </a:xfrm>
          <a:prstGeom prst="roundRect">
            <a:avLst>
              <a:gd name="adj" fmla="val 6977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19672" y="4754880"/>
            <a:ext cx="438912" cy="43891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19672" y="477316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068312" y="47000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y recursos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7068312" y="50017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Apoyos específicos y materiales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0080" y="5513832"/>
            <a:ext cx="5257800" cy="786384"/>
          </a:xfrm>
          <a:prstGeom prst="roundRect">
            <a:avLst>
              <a:gd name="adj" fmla="val 6977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4672" y="5687568"/>
            <a:ext cx="438912" cy="43891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04672" y="570585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1353312" y="563270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Apoyo con IA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1353312" y="59344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Opcional; se documenta si se usa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355080" y="5513832"/>
            <a:ext cx="5257800" cy="786384"/>
          </a:xfrm>
          <a:prstGeom prst="roundRect">
            <a:avLst>
              <a:gd name="adj" fmla="val 6977"/>
            </a:avLst>
          </a:prstGeom>
          <a:solidFill>
            <a:srgbClr val="FFF8DC"/>
          </a:solidFill>
          <a:ln w="12700">
            <a:solidFill>
              <a:srgbClr val="FFCD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19672" y="5687568"/>
            <a:ext cx="438912" cy="438912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519672" y="570585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68312" y="563270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Reflexión de cierre</a:t>
            </a:r>
            <a:endParaRPr lang="en-US" sz="1350" dirty="0"/>
          </a:p>
        </p:txBody>
      </p:sp>
      <p:sp>
        <p:nvSpPr>
          <p:cNvPr id="53" name="Text 51"/>
          <p:cNvSpPr txBox="1"/>
          <p:nvPr/>
        </p:nvSpPr>
        <p:spPr>
          <a:xfrm>
            <a:off x="7068312" y="59344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llena al terminar, no al planear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corazón: las cinco fases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ruta que ustedes vivieron en «Misión Rescate del Huerto»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1993392" cy="288036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7592" y="2286000"/>
            <a:ext cx="512064" cy="512064"/>
          </a:xfrm>
          <a:prstGeom prst="ellipse">
            <a:avLst/>
          </a:prstGeom>
          <a:solidFill>
            <a:srgbClr val="4A4C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07592" y="2340864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9626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Empatizar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345643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a quién</a:t>
            </a:r>
            <a:endParaRPr lang="en-US" sz="120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afecta el problema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25496" y="2057400"/>
            <a:ext cx="1993392" cy="288036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286000"/>
            <a:ext cx="512064" cy="512064"/>
          </a:xfrm>
          <a:prstGeom prst="ellipse">
            <a:avLst/>
          </a:prstGeom>
          <a:solidFill>
            <a:srgbClr val="4A4C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2340864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29626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345643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Escribir el problema</a:t>
            </a:r>
            <a:endParaRPr lang="en-US" sz="120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grupo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84064" y="2057400"/>
            <a:ext cx="1993392" cy="288036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24728" y="2286000"/>
            <a:ext cx="512064" cy="512064"/>
          </a:xfrm>
          <a:prstGeom prst="ellipse">
            <a:avLst/>
          </a:prstGeom>
          <a:solidFill>
            <a:srgbClr val="4A4C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24728" y="2340864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9626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45643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muchas</a:t>
            </a:r>
            <a:endParaRPr lang="en-US" sz="120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soluciones posibles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42632" y="2057400"/>
            <a:ext cx="1993392" cy="288036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83296" y="2286000"/>
            <a:ext cx="512064" cy="512064"/>
          </a:xfrm>
          <a:prstGeom prst="ellipse">
            <a:avLst/>
          </a:prstGeom>
          <a:solidFill>
            <a:srgbClr val="4A4C4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83296" y="2340864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470648" y="29626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Prototipar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70648" y="345643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algo que</a:t>
            </a:r>
            <a:endParaRPr lang="en-US" sz="120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 la idea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01200" y="2057400"/>
            <a:ext cx="1993392" cy="2880360"/>
          </a:xfrm>
          <a:prstGeom prst="roundRect">
            <a:avLst>
              <a:gd name="adj" fmla="val 458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41864" y="2286000"/>
            <a:ext cx="512064" cy="512064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341864" y="2340864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729216" y="29626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729216" y="345643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Probarlo, medirlo</a:t>
            </a:r>
            <a:endParaRPr lang="en-US" sz="1200" dirty="0"/>
          </a:p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ajustarlo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fase tiene su propia ficha en el formato: actividades, preguntas, qué registran los alumnos y cuánto tiempo toma.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QUE MÁS SE OLVIDA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ajuste no hubo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evaluación: hubo exhibición.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fase 5 no es presentar el trabajo terminado. Es poner el prototipo a funcionar con quien lo va a usar, ver qué falla y cambiar algo en consecuencia.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0" y="141732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2B2D2E"/>
          </a:solidFill>
          <a:ln w="12700">
            <a:solidFill>
              <a:srgbClr val="2B2D2E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394192" y="16550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del huerto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394192" y="2112264"/>
            <a:ext cx="287121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del semáforo del riego descubrió que nadie lo veía porque estaba dentro del salón.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movieron a la puerta y volvieron a contar los días de riego.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cambio es la evidencia de que hubo evaluación.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29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i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Diseñe la fase 5 desde el principio. Decida hoy quién va a probar el prototipo y qué van a contar.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diseño ya es inclusivo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DUA 3.0 (CAST, 2024). El proyecto no necesita que se le agregue el Diseño Universal para el Aprendizaje por fuera: su estructura ya lo encarna.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DEL PROYECTO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88620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DUA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90372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ACTIVA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359152"/>
            <a:ext cx="108813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5146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Empatizar · Definir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25146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25146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Relevancia, autenticidad, pertenencia, sentido de propósito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72384"/>
            <a:ext cx="108813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2278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32278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Representación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32278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 lenguajes sobre un mismo problema: mecánico, narrativo, lúdico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785616"/>
            <a:ext cx="108813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39410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Prototipar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39410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y expresión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94106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Vías equivalentes para comunicar la solución, sin privilegiar una destreza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498848"/>
            <a:ext cx="108813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465429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886200" y="465429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Autogestión reflexiva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465429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valora el proceso de ajuste, no un resultado fijo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212080"/>
            <a:ext cx="108813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" y="53675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Socialización comunitaria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886200" y="53675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A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 amplificado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53675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Pertenencia verificable: el efecto del trabajo se ve en un espacio real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870448"/>
            <a:ext cx="10881360" cy="713232"/>
          </a:xfrm>
          <a:prstGeom prst="roundRect">
            <a:avLst>
              <a:gd name="adj" fmla="val 8974"/>
            </a:avLst>
          </a:prstGeom>
          <a:solidFill>
            <a:srgbClr val="FFF8DC"/>
          </a:solidFill>
          <a:ln w="25400">
            <a:solidFill>
              <a:srgbClr val="FFCD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60533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Secundaria y preparatoria: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337560" y="598932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DUA no se exige como requisito de la planeación en estos niveles. Planearlo así no estorba en nada y aquí ya viene incorporado: no tiene que agregar nada.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IMPLICA EN SU SALÓN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buen proyecto ya tiene varias puertas de entrada.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957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trabajo del docente es no cerrarlas.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3410712" cy="1874520"/>
          </a:xfrm>
          <a:prstGeom prst="roundRect">
            <a:avLst>
              <a:gd name="adj" fmla="val 3902"/>
            </a:avLst>
          </a:prstGeom>
          <a:solidFill>
            <a:srgbClr val="2B2D2E"/>
          </a:solidFill>
          <a:ln w="12700">
            <a:solidFill>
              <a:srgbClr val="2B2D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3273552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3675888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es real y la audiencia también. El niño ve el efecto de su prototipo en una planta, o su cartel pegado en un pasillo real.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3063240"/>
            <a:ext cx="3410712" cy="1874520"/>
          </a:xfrm>
          <a:prstGeom prst="roundRect">
            <a:avLst>
              <a:gd name="adj" fmla="val 3902"/>
            </a:avLst>
          </a:prstGeom>
          <a:solidFill>
            <a:srgbClr val="2B2D2E"/>
          </a:solidFill>
          <a:ln w="12700">
            <a:solidFill>
              <a:srgbClr val="2B2D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08576" y="3273552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Representación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08576" y="3675888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idea se explora en lenguaje mecánico, narrativo y lúdico. Ningún alumno depende de un solo canal para entender.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01584" y="3063240"/>
            <a:ext cx="3410712" cy="1874520"/>
          </a:xfrm>
          <a:prstGeom prst="roundRect">
            <a:avLst>
              <a:gd name="adj" fmla="val 3902"/>
            </a:avLst>
          </a:prstGeom>
          <a:solidFill>
            <a:srgbClr val="2B2D2E"/>
          </a:solidFill>
          <a:ln w="12700">
            <a:solidFill>
              <a:srgbClr val="2B2D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39328" y="3273552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y expresión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39328" y="3675888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Dibujo, actuación o simulación valen igual. No se evalúa quién dibuja mejor, sino quién logró comunicar su solución.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257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i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Permitir que un alumno explique su prototipo actuando en lugar de escribiendo no es una concesión: es el diseño funcionando como fue pensado.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1005840" cy="100584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7190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8288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 con la Gema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32004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abre desde Gemini, en su cuenta institucional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hace una pregunta a la vez; usted contesta con sus palabras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 entre quince y veinticinco minutos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abrir la Gema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pasos. Se hace una sola vez.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203704"/>
            <a:ext cx="384048" cy="3840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219456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22311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a Gemini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770632"/>
            <a:ext cx="296265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 gemini.google.com con su cuenta institucional. Si le pide iniciar sesión, use la cuenta de la escuela, no la personal.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2203704"/>
            <a:ext cx="384048" cy="3840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81144" y="219456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11496" y="22311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Busque la Gema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770632"/>
            <a:ext cx="296265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menú de la izquierda, elija Gems y seleccione «Diseñador de Proyectos STEAM».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203704"/>
            <a:ext cx="384048" cy="3840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75904" y="219456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06256" y="22311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770632"/>
            <a:ext cx="296265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Escriba «hola» y espere. La Gema le explicará el proceso y hará la primera pregunta.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8DC"/>
          </a:solidFill>
          <a:ln w="25400">
            <a:solidFill>
              <a:srgbClr val="FFCD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0292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encuentra la Gema en su lista, pida al responsable del colectivo que se la comparta. No la cree usted de nuevo: todas deben ser la misma.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es la conversación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formulario. Es una entrevista.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2112264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hace la Gema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569464"/>
            <a:ext cx="483717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Le hace una sola pregunta cada vez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Le explica para qué sirve lo que pregunta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Le propone opciones cuando usted duda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Redacta borradores que usted corrige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Adapta todo a su nivel educativo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19672" y="2112264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le toca a usted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569464"/>
            <a:ext cx="483717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Responder con lo que pasa en su escuela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Decir «no sé» cuando no sepa: ella propone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Corregir lo que no corresponde a su grupo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Decidir; la Gema sugiere, no manda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Aportar el contexto que ella no puede saber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15 y 25 minutos. Puede cerrar la conversación y retomarla después; la Gema conserva el hilo.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responder bien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calidad de la planeación depende de la calidad de sus respuestas.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03704"/>
            <a:ext cx="457200" cy="45720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3113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391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concreto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865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Diga qué ha visto, no un tema del programa.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1031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vez de «los seres vivos», diga «el huerto de la escuela se seca los fines de semana».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10881360" cy="1115568"/>
          </a:xfrm>
          <a:prstGeom prst="roundRect">
            <a:avLst>
              <a:gd name="adj" fmla="val 5738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502152"/>
            <a:ext cx="457200" cy="45720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5295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337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Piense en sus alumnos reales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6850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lo que su grupo puede hacer de verdad.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40156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son de tercero de preescolar, el prototipo será un dibujo o una escena actuada, no una maqueta con circuitos.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71416"/>
            <a:ext cx="1088136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800600"/>
            <a:ext cx="457200" cy="45720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8280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636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Corrija sin pena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983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propuesta no le convence, dígalo.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4700016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Escriba «eso no funciona en mi grupo porque…» y la Gema propone otra cosa.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1005840" cy="100584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7190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8288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 antes de aceptar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32004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Gema propone; usted verifica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cosas que ella no puede saber de su grupo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se copia al formato sin haber pasado por aquí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debe revisar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Recorra la planeación que le entregó la Gema y verifique punto por punto.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74720" cy="1481328"/>
          </a:xfrm>
          <a:prstGeom prst="roundRect">
            <a:avLst>
              <a:gd name="adj" fmla="val 4938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211226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PDA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569464"/>
            <a:ext cx="2962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Coteje cada Proceso de Desarrollo de Aprendizaje con su programa sintético. La Gema los aproxima; no los conoce con certeza.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874520"/>
            <a:ext cx="3474720" cy="1481328"/>
          </a:xfrm>
          <a:prstGeom prst="roundRect">
            <a:avLst>
              <a:gd name="adj" fmla="val 4938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99432" y="211226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tiempos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569464"/>
            <a:ext cx="2962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 verdad le alcanza con esas sesiones? Usted conoce el ritmo de su grupo.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874520"/>
            <a:ext cx="3474720" cy="1481328"/>
          </a:xfrm>
          <a:prstGeom prst="roundRect">
            <a:avLst>
              <a:gd name="adj" fmla="val 4938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94192" y="211226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materiales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94192" y="2569464"/>
            <a:ext cx="2962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¿Su escuela tiene eso? Cámbielo por lo que sí hay a la mano.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3474720" cy="1481328"/>
          </a:xfrm>
          <a:prstGeom prst="roundRect">
            <a:avLst>
              <a:gd name="adj" fmla="val 4938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384962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actividades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306824"/>
            <a:ext cx="2962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¿Sus alumnos pueden hacerlo solos, o terminaría haciéndolo usted?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611880"/>
            <a:ext cx="3474720" cy="1481328"/>
          </a:xfrm>
          <a:prstGeom prst="roundRect">
            <a:avLst>
              <a:gd name="adj" fmla="val 4938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99432" y="384962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lenguaje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4306824"/>
            <a:ext cx="2962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enunciado del problema está en palabras que sus niños entienden?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3611880"/>
            <a:ext cx="3474720" cy="1481328"/>
          </a:xfrm>
          <a:prstGeom prst="roundRect">
            <a:avLst>
              <a:gd name="adj" fmla="val 4938"/>
            </a:avLst>
          </a:prstGeom>
          <a:solidFill>
            <a:srgbClr val="F4F4F4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94192" y="384962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nombres y datos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94192" y="4306824"/>
            <a:ext cx="2962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Escuela, clave, grado, fechas. Revise que nada quedó en blanco o inventado.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algo no le cuadra, dígaselo a la Gema en el chat y pídale que lo corrija. No lo arregle a mano después.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la Gema no puede saber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su revisión no es un trámite.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66344" y="1965960"/>
            <a:ext cx="3529584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2376" y="22677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grupo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22376" y="2816352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necesita apoyo, quién se distrae, quién ya lee, cuántos son y cómo trabajan juntos.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15968" y="1965960"/>
            <a:ext cx="3529584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22677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escuela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816352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materiales hay, si existe el huerto, cuánto dura realmente una sesión, qué espacios puede usar.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65592" y="1965960"/>
            <a:ext cx="3529584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21624" y="22677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comunidad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421624" y="2816352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le preocupa a las familias, qué problemas son reales en la colonia, quién puede apoyar.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000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501091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Usted es quien conoce a los niños. Ese conocimiento es exactamente lo que la Gema no tiene, y lo que hace que la planeación sirva.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1005840" cy="100584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7190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8288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Pase al formato oficial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32004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y pegar, sección por sección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que nada se haya movido de lugar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Firmar y entregar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chat al formato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pasos, con el archivo de Word abierto al lado.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0195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444752" y="1892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 el formato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189280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Tenga a la mano el archivo «Plantilla de Diseño de Proyecto STEAM» en Word.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548640" cy="5486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92608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44752" y="2916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 por secciones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916936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respuesta de la Gema, copie una sección a la vez y péguela en el lugar que le corresponde. No copie todo de un solo jalón.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77056"/>
            <a:ext cx="548640" cy="5486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5020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44752" y="39410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 el acomodo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941064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Verifique que las tablas no se descuadraron y que cada texto quedó en su casilla.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901184"/>
            <a:ext cx="548640" cy="54864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97433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4965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Firme y entregue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4965192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los datos del encabezado si faltó alguno, firme y entregue según le indique el colectivo.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sección 10, la reflexión de cierre, se queda en blanco. Se llena cuando termine de implementar el proyecto con sus alumnos.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frecuentes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que más se repiten. Evítelos y le irá bien.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66344" y="1965960"/>
            <a:ext cx="3529584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2212848"/>
            <a:ext cx="457200" cy="45720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" y="22402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279806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Aceptar todo sin leer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3520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Gema redacta bonito y da confianza. Eso no la vuelve conocedora de su grupo.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22376" y="4434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Léalo completo antes de copiar.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1965960"/>
            <a:ext cx="3529584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212848"/>
            <a:ext cx="457200" cy="45720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2402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79806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Dejar la fase 5 en el aire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520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fácil planear las primeras cuatro fases y decir «ya veremos cómo lo evaluamos».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434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Decida hoy quién prueba el prototipo y qué van a contar.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65592" y="1965960"/>
            <a:ext cx="3529584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3E4E5"/>
            </a:solidFill>
            <a:prstDash val="solid"/>
          </a:ln>
          <a:effectLst>
            <a:outerShdw sx="100000" sy="100000" kx="0" ky="0" algn="bl" rotWithShape="0" blurRad="76200" dist="12700" dir="5400000">
              <a:srgbClr val="B5B6B7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21624" y="2212848"/>
            <a:ext cx="457200" cy="457200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21624" y="22402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421624" y="279806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Contestar en dos palabras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21624" y="3520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responde «medio ambiente» y ya, la planeación saldrá igual de vaga.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421624" y="4434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Cuente lo que pasó en su escuela, con detalle.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4A4C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8404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MANOS A LA OBRA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840480" y="169164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Conozca · Converse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 · Entregue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 la Gema ahora y diseñe su proyecto. Al terminar la sesión, cada quien sale con su planeación lista para revisar.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0480" y="4617720"/>
            <a:ext cx="7589520" cy="960120"/>
          </a:xfrm>
          <a:prstGeom prst="roundRect">
            <a:avLst>
              <a:gd name="adj" fmla="val 7619"/>
            </a:avLst>
          </a:prstGeom>
          <a:solidFill>
            <a:srgbClr val="FFCD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069080" y="48280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Gema redacta. Usted decide.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 Y CRÉDITOS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STEAM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1.0 · Septiembre de 2026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y desarrollo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Emmanuelle Ruelas Gómez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pedagógico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Emmanuelle Ruelas Gómez, Ing. Daniel Millan Coronado,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Mtra. Emarinia Angulo Camacho, Mtra. Miriam Melero Hernández,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Dra. Silvia Lizeth Becerra Rojas, M en C. Maritza Patricia López Solorio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y validación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Juan Terrazas Gaynor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y eventos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Daniel Millan Coronado, Dra. Verónica Rojas Mendizábal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743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3108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Commons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Atribución-CompartirIgual 4.0 Internacional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BY-SA 4.0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1148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compartirse y adaptarse, incluso con fines comerciales, siempre que se dé crédito, se indique si hubo cambios y las obras derivadas se distribuyan bajo esta misma licencia.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5120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creativecommons.org/licenses/by-sa/4.0/deed.es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578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material cita, sin reproducir, las Directrices DUA 3.0 (CAST, 2024) y la Guía de Consulta del DSM-5. Los derechos de esas obras corresponden a sus titulares.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Capacitación docente · Diseñador de Proyectos STEAM</dc:title>
  <dc:subject>PptxGenJS Presentation</dc:subject>
  <dc:creator>Coordinación STEAM</dc:creator>
  <cp:lastModifiedBy>Coordinación STEAM</cp:lastModifiedBy>
  <cp:revision>1</cp:revision>
  <dcterms:created xsi:type="dcterms:W3CDTF">2026-09-24T22:59:22Z</dcterms:created>
  <dcterms:modified xsi:type="dcterms:W3CDTF">2026-09-24T22:59:22Z</dcterms:modified>
</cp:coreProperties>
</file>